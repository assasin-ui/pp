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346" r:id="rId3"/>
    <p:sldId id="261" r:id="rId4"/>
    <p:sldId id="275" r:id="rId5"/>
    <p:sldId id="276" r:id="rId6"/>
    <p:sldId id="264" r:id="rId7"/>
    <p:sldId id="377" r:id="rId8"/>
    <p:sldId id="332" r:id="rId9"/>
    <p:sldId id="345" r:id="rId10"/>
    <p:sldId id="333" r:id="rId11"/>
    <p:sldId id="334" r:id="rId12"/>
    <p:sldId id="342" r:id="rId13"/>
    <p:sldId id="278" r:id="rId14"/>
    <p:sldId id="266" r:id="rId15"/>
    <p:sldId id="267" r:id="rId16"/>
    <p:sldId id="268" r:id="rId17"/>
    <p:sldId id="341" r:id="rId18"/>
    <p:sldId id="269" r:id="rId19"/>
    <p:sldId id="282" r:id="rId20"/>
    <p:sldId id="283" r:id="rId21"/>
    <p:sldId id="284" r:id="rId22"/>
    <p:sldId id="380" r:id="rId23"/>
    <p:sldId id="373" r:id="rId24"/>
    <p:sldId id="374" r:id="rId25"/>
    <p:sldId id="381" r:id="rId26"/>
    <p:sldId id="304" r:id="rId27"/>
    <p:sldId id="378"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76" autoAdjust="0"/>
    <p:restoredTop sz="94660"/>
  </p:normalViewPr>
  <p:slideViewPr>
    <p:cSldViewPr snapToGrid="0">
      <p:cViewPr varScale="1">
        <p:scale>
          <a:sx n="114" d="100"/>
          <a:sy n="114" d="100"/>
        </p:scale>
        <p:origin x="26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368022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340801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3420046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76BE69A-981E-4CF8-B012-28C033327A5D}" type="datetimeFigureOut">
              <a:rPr lang="en-IN" smtClean="0"/>
              <a:t>19-08-2024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4244020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6BE69A-981E-4CF8-B012-28C033327A5D}" type="datetimeFigureOut">
              <a:rPr lang="en-IN" smtClean="0"/>
              <a:t>19-08-2024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2140724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6BE69A-981E-4CF8-B012-28C033327A5D}" type="datetimeFigureOut">
              <a:rPr lang="en-IN" smtClean="0"/>
              <a:t>19-08-2024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285883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6BE69A-981E-4CF8-B012-28C033327A5D}" type="datetimeFigureOut">
              <a:rPr lang="en-IN" smtClean="0"/>
              <a:t>19-08-2024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861330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6BE69A-981E-4CF8-B012-28C033327A5D}" type="datetimeFigureOut">
              <a:rPr lang="en-IN" smtClean="0"/>
              <a:t>19-08-2024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390823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6BE69A-981E-4CF8-B012-28C033327A5D}" type="datetimeFigureOut">
              <a:rPr lang="en-IN" smtClean="0"/>
              <a:t>19-08-2024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2538574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534539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717904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74809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03790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1065553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4940119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3120377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76BE69A-981E-4CF8-B012-28C033327A5D}" type="datetimeFigureOut">
              <a:rPr lang="en-IN" smtClean="0"/>
              <a:t>19-08-2024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FCA41EF-23D3-4303-9A0D-EAD9A8338140}" type="slidenum">
              <a:rPr lang="en-IN" smtClean="0"/>
              <a:t>‹#›</a:t>
            </a:fld>
            <a:endParaRPr lang="en-IN"/>
          </a:p>
        </p:txBody>
      </p:sp>
    </p:spTree>
    <p:extLst>
      <p:ext uri="{BB962C8B-B14F-4D97-AF65-F5344CB8AC3E}">
        <p14:creationId xmlns:p14="http://schemas.microsoft.com/office/powerpoint/2010/main" val="36812916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47447" y="2971535"/>
            <a:ext cx="7863840" cy="463397"/>
          </a:xfrm>
          <a:prstGeom prst="rect">
            <a:avLst/>
          </a:prstGeom>
        </p:spPr>
        <p:txBody>
          <a:bodyPr wrap="square">
            <a:spAutoFit/>
          </a:bodyPr>
          <a:lstStyle/>
          <a:p>
            <a:pPr algn="ctr">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PARKINSON’S DISEASE DETECTION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984068" y="832898"/>
            <a:ext cx="6096000" cy="646331"/>
          </a:xfrm>
          <a:prstGeom prst="rect">
            <a:avLst/>
          </a:prstGeom>
        </p:spPr>
        <p:txBody>
          <a:bodyPr>
            <a:spAutoFit/>
          </a:bodyPr>
          <a:lstStyle/>
          <a:p>
            <a:pPr>
              <a:buClr>
                <a:srgbClr val="000000"/>
              </a:buClr>
              <a:buSzPct val="100000"/>
            </a:pPr>
            <a:r>
              <a:rPr lang="en-US" altLang="en-US" b="1" dirty="0">
                <a:latin typeface="Times New Roman" panose="02020603050405020304" pitchFamily="18" charset="0"/>
                <a:cs typeface="Times New Roman" panose="02020603050405020304" pitchFamily="18" charset="0"/>
              </a:rPr>
              <a:t>Domain  ML</a:t>
            </a:r>
          </a:p>
          <a:p>
            <a:pPr>
              <a:buClr>
                <a:srgbClr val="000000"/>
              </a:buClr>
              <a:buSzPct val="100000"/>
            </a:pPr>
            <a:r>
              <a:rPr lang="en-US" altLang="en-US" b="1" dirty="0">
                <a:latin typeface="Times New Roman" panose="02020603050405020304" pitchFamily="18" charset="0"/>
                <a:cs typeface="Times New Roman" panose="02020603050405020304" pitchFamily="18" charset="0"/>
              </a:rPr>
              <a:t>Technology: Python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89775" y="733167"/>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INDEX</a:t>
            </a:r>
          </a:p>
        </p:txBody>
      </p:sp>
      <p:sp>
        <p:nvSpPr>
          <p:cNvPr id="3" name="Content Placeholder 2"/>
          <p:cNvSpPr txBox="1"/>
          <p:nvPr/>
        </p:nvSpPr>
        <p:spPr>
          <a:xfrm>
            <a:off x="1436954" y="1087395"/>
            <a:ext cx="3957667" cy="508274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Scope &amp; Motivation</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768350" lvl="2" indent="0">
              <a:lnSpc>
                <a:spcPct val="170000"/>
              </a:lnSpc>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000" dirty="0"/>
          </a:p>
        </p:txBody>
      </p:sp>
      <p:sp>
        <p:nvSpPr>
          <p:cNvPr id="4" name="Content Placeholder 2"/>
          <p:cNvSpPr txBox="1"/>
          <p:nvPr/>
        </p:nvSpPr>
        <p:spPr>
          <a:xfrm>
            <a:off x="5394622" y="1485853"/>
            <a:ext cx="5561701" cy="48217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Advantages</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Project Flow	</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Algorithms</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References</a:t>
            </a:r>
          </a:p>
          <a:p>
            <a:pPr marL="768350" lvl="2" indent="0">
              <a:lnSpc>
                <a:spcPct val="170000"/>
              </a:lnSpc>
              <a:buNone/>
            </a:pPr>
            <a:r>
              <a:rPr lang="en-US" sz="20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001305" y="100521"/>
            <a:ext cx="8596668" cy="8906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3" name="Rectangle 2"/>
          <p:cNvSpPr/>
          <p:nvPr/>
        </p:nvSpPr>
        <p:spPr>
          <a:xfrm>
            <a:off x="727928" y="1184946"/>
            <a:ext cx="9565364" cy="5162119"/>
          </a:xfrm>
          <a:prstGeom prst="rect">
            <a:avLst/>
          </a:prstGeom>
        </p:spPr>
        <p:txBody>
          <a:bodyPr wrap="square">
            <a:spAutoFit/>
          </a:bodyPr>
          <a:lstStyle/>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Parkinson’s Disease (PD) is a progressive neurodegenerative disorder affecting millions globally, characterized by tremors, stiffness, slowness, and impaired balance. Early detection of PD is crucial for effective diagnosis and management. This project, "Parkinson’s Disease Detection Using Deep Learning Techniques," aims to develop a machine learning model utilizing Convolutional Neural Networks (CNN) and Support Vector Machines (SVM) and Random Forest to analyze speech features from the dataset provided. By focusing on speech characteristics such as frequency, intensity, and timing, the project seeks to improve diagnostic accuracy and support clinical decision-making. The model's implementation could lead to early PD detection, offering benefits such as better treatment options, enhanced patient quality of life, and reduced healthcare costs. Additionally, an frequently ask question related to Parkinson’s Disease.</a:t>
            </a: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Keywords: Parkinson’s Disease, Speech Analysis, Deep Learning, Convolutional Neural Networks, Support Vector Machines, Early Detection, Diagnostic Accuracy, Machine Learning, Healthcare.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854534" y="32577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4" name="TextBox 3"/>
          <p:cNvSpPr txBox="1"/>
          <p:nvPr/>
        </p:nvSpPr>
        <p:spPr>
          <a:xfrm>
            <a:off x="835530" y="1503253"/>
            <a:ext cx="10520940" cy="3268652"/>
          </a:xfrm>
          <a:prstGeom prst="rect">
            <a:avLst/>
          </a:prstGeom>
          <a:noFill/>
        </p:spPr>
        <p:txBody>
          <a:bodyPr wrap="square" rtlCol="0">
            <a:spAutoFit/>
          </a:bodyPr>
          <a:lstStyle/>
          <a:p>
            <a:pPr algn="just">
              <a:lnSpc>
                <a:spcPct val="150000"/>
              </a:lnSpc>
              <a:spcAft>
                <a:spcPts val="800"/>
              </a:spcAft>
            </a:pP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primary objective of the project "Parkinson’s Disease Detection Using Deep Learning Techniques" is to develop an advanced machine learning model that leverages Convolutional Neural Networks (CNN), Support Vector Machines (SVM), and Random Forest algorithms to analyze speech features for early detection of Parkinson’s Disease (PD). By focusing on key speech characteristics such as frequency, intensity, and timing, the project aims to enhance diagnostic accuracy, support clinical decision-making, and ultimately improve patient outcomes through early intervention, better treatment options, and reduced healthcare costs.</a:t>
            </a:r>
            <a:endPar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776594" y="255244"/>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4" name="TextBox 3"/>
          <p:cNvSpPr txBox="1"/>
          <p:nvPr/>
        </p:nvSpPr>
        <p:spPr>
          <a:xfrm>
            <a:off x="945406" y="1481482"/>
            <a:ext cx="9014099" cy="3736279"/>
          </a:xfrm>
          <a:prstGeom prst="rect">
            <a:avLst/>
          </a:prstGeom>
          <a:noFill/>
        </p:spPr>
        <p:txBody>
          <a:bodyPr wrap="square" rtlCol="0">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Parkinson’s Disease (PD) is a debilitating neurodegenerative disorder with early symptoms that are often subtle and challenging to diagnose. The lack of reliable early detection methods can delay diagnosis and treatment, impacting patient outcomes and increasing healthcare costs. This project addresses the need for an accurate and early diagnostic tool by leveraging advanced deep learning techniques. By analyzing speech features using Convolutional Neural Networks (CNN), Support Vector Machines (SVM), and Random Forest, this project aims to enhance diagnostic accuracy for Parkinson’s Disease, improving patient care and clinical decision-making.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8968" y="1755694"/>
            <a:ext cx="9385814" cy="3730317"/>
          </a:xfrm>
          <a:prstGeom prst="rect">
            <a:avLst/>
          </a:prstGeom>
        </p:spPr>
        <p:txBody>
          <a:bodyPr wrap="square">
            <a:spAutoFit/>
          </a:bodyPr>
          <a:lstStyle/>
          <a:p>
            <a:pPr algn="just">
              <a:lnSpc>
                <a:spcPct val="150000"/>
              </a:lnSpc>
              <a:spcBef>
                <a:spcPts val="1200"/>
              </a:spcBef>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Parkinson’s Disease (PD) poses significant challenges due to its gradual onset and impact on motor functions. Early and accurate diagnosis is crucial for managing the disease effectively and improving patient outcomes. Our project, "Parkinson’s Disease Detection Using Deep Learning Techniques," aims to address this need by leveraging advanced machine learning models, including Convolutional Neural Networks (CNN), Support Vector Machines (SVM), and Random Forest. By analyzing speech features, which are often altered in PD, we seek to enhance diagnostic precision, facilitating timely interventions and better management of the disease.</a:t>
            </a:r>
            <a:endParaRPr lang="en-IN"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028797" y="44866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MOTIVATION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4A006A-7943-3D26-45C3-6F935F8F236F}"/>
              </a:ext>
            </a:extLst>
          </p:cNvPr>
          <p:cNvSpPr txBox="1"/>
          <p:nvPr/>
        </p:nvSpPr>
        <p:spPr>
          <a:xfrm>
            <a:off x="942534" y="1457159"/>
            <a:ext cx="9172135" cy="3736279"/>
          </a:xfrm>
          <a:prstGeom prst="rect">
            <a:avLst/>
          </a:prstGeom>
          <a:noFill/>
        </p:spPr>
        <p:txBody>
          <a:bodyPr wrap="square">
            <a:spAutoFit/>
          </a:bodyPr>
          <a:lstStyle/>
          <a:p>
            <a:pPr algn="just">
              <a:lnSpc>
                <a:spcPct val="150000"/>
              </a:lnSpc>
              <a:spcBef>
                <a:spcPts val="1200"/>
              </a:spcBef>
              <a:spcAft>
                <a:spcPts val="800"/>
              </a:spcAf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This project aims to enhance Parkinson’s Disease (PD) detection through advanced deep learning techniques. By employing Convolutional Neural Networks (CNN), Support Vector Machines (SVM), and Random Forest, the project will analyze speech features such as frequency, intensity, and timing to improve diagnostic accuracy. The scope includes developing a machine learning model for early PD detection, which can lead to better treatment options, improved patient quality of life, and reduced healthcare costs. Additionally, it will address common questions related to Parkinson’s Disease for comprehensive understanding.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62727E8-A4D5-63A3-AA87-6B336617E148}"/>
              </a:ext>
            </a:extLst>
          </p:cNvPr>
          <p:cNvSpPr txBox="1"/>
          <p:nvPr/>
        </p:nvSpPr>
        <p:spPr>
          <a:xfrm>
            <a:off x="4009291" y="532786"/>
            <a:ext cx="6105378" cy="646331"/>
          </a:xfrm>
          <a:prstGeom prst="rect">
            <a:avLst/>
          </a:prstGeom>
          <a:noFill/>
        </p:spPr>
        <p:txBody>
          <a:bodyPr wrap="square">
            <a:spAutoFit/>
          </a:bodyPr>
          <a:lstStyle/>
          <a:p>
            <a:r>
              <a:rPr lang="en-US" sz="3600" b="1" dirty="0">
                <a:solidFill>
                  <a:schemeClr val="tx2"/>
                </a:solidFill>
                <a:latin typeface="Times New Roman" panose="02020603050405020304" pitchFamily="18" charset="0"/>
                <a:cs typeface="Times New Roman" panose="02020603050405020304" pitchFamily="18" charset="0"/>
              </a:rPr>
              <a:t>SCOPE</a:t>
            </a:r>
            <a:endParaRPr lang="en-IN" sz="3600" dirty="0">
              <a:solidFill>
                <a:schemeClr val="tx2"/>
              </a:solidFill>
            </a:endParaRPr>
          </a:p>
        </p:txBody>
      </p:sp>
    </p:spTree>
    <p:extLst>
      <p:ext uri="{BB962C8B-B14F-4D97-AF65-F5344CB8AC3E}">
        <p14:creationId xmlns:p14="http://schemas.microsoft.com/office/powerpoint/2010/main" val="607373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7771" y="188085"/>
            <a:ext cx="4754880" cy="535246"/>
          </a:xfrm>
        </p:spPr>
        <p:txBody>
          <a:bodyPr>
            <a:normAutofit fontScale="90000"/>
          </a:bodyPr>
          <a:lstStyle/>
          <a:p>
            <a:pPr algn="ctr"/>
            <a:r>
              <a:rPr lang="en-US" sz="4000" b="1" dirty="0">
                <a:solidFill>
                  <a:schemeClr val="tx2"/>
                </a:solidFill>
                <a:latin typeface="Times New Roman" panose="02020603050405020304" pitchFamily="18" charset="0"/>
                <a:cs typeface="Times New Roman" panose="02020603050405020304" pitchFamily="18" charset="0"/>
              </a:rPr>
              <a:t>INTRODUCTION</a:t>
            </a:r>
            <a:br>
              <a:rPr lang="en-US" altLang="en-US" sz="2700" b="1"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472357" y="1070363"/>
            <a:ext cx="10120616" cy="5599552"/>
          </a:xfrm>
        </p:spPr>
        <p:txBody>
          <a:bodyPr>
            <a:noAutofit/>
          </a:bodyPr>
          <a:lstStyle/>
          <a:p>
            <a:pPr marL="0" indent="0" algn="just">
              <a:lnSpc>
                <a:spcPct val="150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Parkinson’s Disease (PD) is a chronic and progressive neurodegenerative disorder that poses a significant challenge to global healthcare. Affecting millions of individuals worldwide, PD is primarily characterized by a range of motor symptoms including tremors, stiffness, bradykinesia (slowness of movement), and impaired balance. These symptoms, which develop gradually over time, can severely impact the quality of life, making early detection and intervention crucial for effective disease management and improved patient outcomes. Early diagnosis of Parkinson’s Disease is often challenging due to the subtlety of initial symptoms and the variability in how the disease manifests among individuals. Traditional diagnostic methods, which include clinical assessments and imaging techniques, may not always provide timely or accurate results. Thus, there is a pressing need for innovative approaches to enhance early detection capabilities.</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This project, titled "Parkinson’s Disease Detection Using Deep Learning Techniques," seeks to address this need by leveraging advanced machine learning methodologies. </a:t>
            </a:r>
          </a:p>
        </p:txBody>
      </p:sp>
    </p:spTree>
    <p:extLst>
      <p:ext uri="{BB962C8B-B14F-4D97-AF65-F5344CB8AC3E}">
        <p14:creationId xmlns:p14="http://schemas.microsoft.com/office/powerpoint/2010/main" val="2595292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0930" y="919297"/>
            <a:ext cx="10142720" cy="4756238"/>
          </a:xfrm>
          <a:prstGeom prst="rect">
            <a:avLst/>
          </a:prstGeom>
        </p:spPr>
        <p:txBody>
          <a:bodyPr wrap="square">
            <a:spAutoFit/>
          </a:bodyPr>
          <a:lstStyle/>
          <a:p>
            <a:pPr marL="0" indent="0" algn="just">
              <a:lnSpc>
                <a:spcPct val="150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primary focus is on analyzing speech features, as vocal characteristics such as frequency, intensity, and timing have been shown to exhibit distinct patterns in individuals with Parkinson’s Disease. By employing Convolutional Neural Networks (CNN), Support Vector Machines (SVM), and Random Forest algorithms, this project aims to develop a robust model capable of detecting Parkinson’s Disease at an early stage through speech analysis. The implementation of such a model holds significant potential benefits, including improved diagnostic accuracy, more effective treatment options, and enhanced patient quality of life. Additionally, it could contribute to reducing healthcare costs associated with late-stage diagnosis and treatment. This project not only aims to advance the field of PD detection but also seeks to provide valuable insights and tools for clinical decision-making.</a:t>
            </a:r>
          </a:p>
        </p:txBody>
      </p:sp>
    </p:spTree>
    <p:extLst>
      <p:ext uri="{BB962C8B-B14F-4D97-AF65-F5344CB8AC3E}">
        <p14:creationId xmlns:p14="http://schemas.microsoft.com/office/powerpoint/2010/main" val="1139335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42905675"/>
              </p:ext>
            </p:extLst>
          </p:nvPr>
        </p:nvGraphicFramePr>
        <p:xfrm>
          <a:off x="607456" y="939800"/>
          <a:ext cx="11288133" cy="5700875"/>
        </p:xfrm>
        <a:graphic>
          <a:graphicData uri="http://schemas.openxmlformats.org/drawingml/2006/table">
            <a:tbl>
              <a:tblPr firstRow="1" bandRow="1">
                <a:tableStyleId>{5C22544A-7EE6-4342-B048-85BDC9FD1C3A}</a:tableStyleId>
              </a:tblPr>
              <a:tblGrid>
                <a:gridCol w="896186">
                  <a:extLst>
                    <a:ext uri="{9D8B030D-6E8A-4147-A177-3AD203B41FA5}">
                      <a16:colId xmlns:a16="http://schemas.microsoft.com/office/drawing/2014/main" val="20000"/>
                    </a:ext>
                  </a:extLst>
                </a:gridCol>
                <a:gridCol w="1612098">
                  <a:extLst>
                    <a:ext uri="{9D8B030D-6E8A-4147-A177-3AD203B41FA5}">
                      <a16:colId xmlns:a16="http://schemas.microsoft.com/office/drawing/2014/main" val="20001"/>
                    </a:ext>
                  </a:extLst>
                </a:gridCol>
                <a:gridCol w="1900856">
                  <a:extLst>
                    <a:ext uri="{9D8B030D-6E8A-4147-A177-3AD203B41FA5}">
                      <a16:colId xmlns:a16="http://schemas.microsoft.com/office/drawing/2014/main" val="20002"/>
                    </a:ext>
                  </a:extLst>
                </a:gridCol>
                <a:gridCol w="2030767">
                  <a:extLst>
                    <a:ext uri="{9D8B030D-6E8A-4147-A177-3AD203B41FA5}">
                      <a16:colId xmlns:a16="http://schemas.microsoft.com/office/drawing/2014/main" val="20003"/>
                    </a:ext>
                  </a:extLst>
                </a:gridCol>
                <a:gridCol w="4848226">
                  <a:extLst>
                    <a:ext uri="{9D8B030D-6E8A-4147-A177-3AD203B41FA5}">
                      <a16:colId xmlns:a16="http://schemas.microsoft.com/office/drawing/2014/main" val="20004"/>
                    </a:ext>
                  </a:extLst>
                </a:gridCol>
              </a:tblGrid>
              <a:tr h="351128">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1471850">
                <a:tc>
                  <a:txBody>
                    <a:bodyPr/>
                    <a:lstStyle/>
                    <a:p>
                      <a:pPr algn="just"/>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1600" dirty="0">
                          <a:latin typeface="Times New Roman" panose="02020603050405020304" pitchFamily="18" charset="0"/>
                          <a:cs typeface="Times New Roman" panose="02020603050405020304" pitchFamily="18" charset="0"/>
                        </a:rPr>
                        <a:t>2020</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IN" sz="1600" dirty="0" err="1">
                          <a:latin typeface="Times New Roman" panose="02020603050405020304" pitchFamily="18" charset="0"/>
                          <a:cs typeface="Times New Roman" panose="02020603050405020304" pitchFamily="18" charset="0"/>
                        </a:rPr>
                        <a:t>Abirami</a:t>
                      </a:r>
                      <a:r>
                        <a:rPr lang="en-IN" sz="1600" dirty="0">
                          <a:latin typeface="Times New Roman" panose="02020603050405020304" pitchFamily="18" charset="0"/>
                          <a:cs typeface="Times New Roman" panose="02020603050405020304" pitchFamily="18" charset="0"/>
                        </a:rPr>
                        <a:t> S., Chitra P.</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IN" sz="1600" dirty="0">
                          <a:latin typeface="Times New Roman" panose="02020603050405020304" pitchFamily="18" charset="0"/>
                          <a:cs typeface="Times New Roman" panose="02020603050405020304" pitchFamily="18" charset="0"/>
                        </a:rPr>
                        <a:t>Energy-efficient edge based real-time healthcare support system.</a:t>
                      </a:r>
                      <a:endParaRPr lang="en-US" sz="16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600" kern="1200" dirty="0">
                          <a:solidFill>
                            <a:schemeClr val="dk1"/>
                          </a:solidFill>
                          <a:effectLst/>
                          <a:latin typeface="Times New Roman" panose="02020603050405020304" pitchFamily="18" charset="0"/>
                          <a:ea typeface="+mn-ea"/>
                          <a:cs typeface="Times New Roman" panose="02020603050405020304" pitchFamily="18" charset="0"/>
                        </a:rPr>
                        <a:t>It looks like you’re referencing a paper related to energy-efficient real-time healthcare support systems using wearable IoT devices. If you need a summary or analysis of the abstract or specific details from the paper, feel free to provide more context or let me know what you need!</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3780635">
                <a:tc>
                  <a:txBody>
                    <a:bodyPr/>
                    <a:lstStyle/>
                    <a:p>
                      <a:pPr algn="just"/>
                      <a:r>
                        <a:rPr lang="en-US">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2016</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IN" sz="1600" dirty="0">
                          <a:latin typeface="Times New Roman" panose="02020603050405020304" pitchFamily="18" charset="0"/>
                          <a:cs typeface="Times New Roman" panose="02020603050405020304" pitchFamily="18" charset="0"/>
                        </a:rPr>
                        <a:t>Al-</a:t>
                      </a:r>
                      <a:r>
                        <a:rPr lang="en-IN" sz="1600" dirty="0" err="1">
                          <a:latin typeface="Times New Roman" panose="02020603050405020304" pitchFamily="18" charset="0"/>
                          <a:cs typeface="Times New Roman" panose="02020603050405020304" pitchFamily="18" charset="0"/>
                        </a:rPr>
                        <a:t>Fatlawi</a:t>
                      </a:r>
                      <a:r>
                        <a:rPr lang="en-IN" sz="1600" dirty="0">
                          <a:latin typeface="Times New Roman" panose="02020603050405020304" pitchFamily="18" charset="0"/>
                          <a:cs typeface="Times New Roman" panose="02020603050405020304" pitchFamily="18" charset="0"/>
                        </a:rPr>
                        <a:t> A. H., </a:t>
                      </a:r>
                      <a:r>
                        <a:rPr lang="en-IN" sz="1600" dirty="0" err="1">
                          <a:latin typeface="Times New Roman" panose="02020603050405020304" pitchFamily="18" charset="0"/>
                          <a:cs typeface="Times New Roman" panose="02020603050405020304" pitchFamily="18" charset="0"/>
                        </a:rPr>
                        <a:t>Jabardi</a:t>
                      </a:r>
                      <a:r>
                        <a:rPr lang="en-IN" sz="1600" dirty="0">
                          <a:latin typeface="Times New Roman" panose="02020603050405020304" pitchFamily="18" charset="0"/>
                          <a:cs typeface="Times New Roman" panose="02020603050405020304" pitchFamily="18" charset="0"/>
                        </a:rPr>
                        <a:t> M. H., Ling S. H.</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IN" sz="1600" dirty="0">
                          <a:latin typeface="Times New Roman" panose="02020603050405020304" pitchFamily="18" charset="0"/>
                          <a:cs typeface="Times New Roman" panose="02020603050405020304" pitchFamily="18" charset="0"/>
                        </a:rPr>
                        <a:t>“Efficient diagnosis system for </a:t>
                      </a:r>
                      <a:r>
                        <a:rPr lang="en-IN" sz="1600" dirty="0" err="1">
                          <a:latin typeface="Times New Roman" panose="02020603050405020304" pitchFamily="18" charset="0"/>
                          <a:cs typeface="Times New Roman" panose="02020603050405020304" pitchFamily="18" charset="0"/>
                        </a:rPr>
                        <a:t>parkinson's</a:t>
                      </a:r>
                      <a:r>
                        <a:rPr lang="en-IN" sz="1600" dirty="0">
                          <a:latin typeface="Times New Roman" panose="02020603050405020304" pitchFamily="18" charset="0"/>
                          <a:cs typeface="Times New Roman" panose="02020603050405020304" pitchFamily="18" charset="0"/>
                        </a:rPr>
                        <a:t> disease using deep belief network,”</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Early diagnosis of Parkinson’s disease (PD) is crucial for effective treatment and management of the condition. This paper presents an efficient diagnostic system for PD utilizing a Deep Belief Network (DBN). The proposed system aims to enhance diagnostic accuracy and reduce the computational complexity associated with traditional methods. The DBN is trained using a dataset of PD patients, with a focus on extracting relevant features and learning complex patterns associated with the disease. Experimental results demonstrate the effectiveness of the DBN in achieving high accuracy rates while maintaining computational efficiency. The paper discusses the potential of DBNs in medical diagnosis and their implications for early detection and intervention strategies.</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2039815" y="-168813"/>
            <a:ext cx="6414868" cy="84406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17586125"/>
              </p:ext>
            </p:extLst>
          </p:nvPr>
        </p:nvGraphicFramePr>
        <p:xfrm>
          <a:off x="904723" y="759051"/>
          <a:ext cx="10114668" cy="4942840"/>
        </p:xfrm>
        <a:graphic>
          <a:graphicData uri="http://schemas.openxmlformats.org/drawingml/2006/table">
            <a:tbl>
              <a:tblPr firstRow="1" bandRow="1">
                <a:tableStyleId>{5C22544A-7EE6-4342-B048-85BDC9FD1C3A}</a:tableStyleId>
              </a:tblPr>
              <a:tblGrid>
                <a:gridCol w="784294">
                  <a:extLst>
                    <a:ext uri="{9D8B030D-6E8A-4147-A177-3AD203B41FA5}">
                      <a16:colId xmlns:a16="http://schemas.microsoft.com/office/drawing/2014/main" val="20000"/>
                    </a:ext>
                  </a:extLst>
                </a:gridCol>
                <a:gridCol w="1250435">
                  <a:extLst>
                    <a:ext uri="{9D8B030D-6E8A-4147-A177-3AD203B41FA5}">
                      <a16:colId xmlns:a16="http://schemas.microsoft.com/office/drawing/2014/main" val="20001"/>
                    </a:ext>
                  </a:extLst>
                </a:gridCol>
                <a:gridCol w="1823912">
                  <a:extLst>
                    <a:ext uri="{9D8B030D-6E8A-4147-A177-3AD203B41FA5}">
                      <a16:colId xmlns:a16="http://schemas.microsoft.com/office/drawing/2014/main" val="20002"/>
                    </a:ext>
                  </a:extLst>
                </a:gridCol>
                <a:gridCol w="1994892">
                  <a:extLst>
                    <a:ext uri="{9D8B030D-6E8A-4147-A177-3AD203B41FA5}">
                      <a16:colId xmlns:a16="http://schemas.microsoft.com/office/drawing/2014/main" val="20003"/>
                    </a:ext>
                  </a:extLst>
                </a:gridCol>
                <a:gridCol w="4261135">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r>
                        <a:rPr lang="en-US">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2020</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Bilgen</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I.,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Guvercin</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G., Rekik I.</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Machine learning methods for brain network classification: application to autism diagnosis using cortical morphological networks.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600" kern="1200" dirty="0">
                          <a:solidFill>
                            <a:schemeClr val="dk1"/>
                          </a:solidFill>
                          <a:effectLst/>
                          <a:latin typeface="Times New Roman" panose="02020603050405020304" pitchFamily="18" charset="0"/>
                          <a:ea typeface="+mn-ea"/>
                          <a:cs typeface="Times New Roman" panose="02020603050405020304" pitchFamily="18" charset="0"/>
                        </a:rPr>
                        <a:t>It looks like you're referencing a paper on machine learning methods for brain network classification related to autism diagnosis. The abstract seems to be about predicting the Unified Parkinson's Disease Rating Scale (UPDRS) </a:t>
                      </a:r>
                      <a:r>
                        <a:rPr lang="en-US" sz="1600" kern="1200" dirty="0" err="1">
                          <a:solidFill>
                            <a:schemeClr val="dk1"/>
                          </a:solidFill>
                          <a:effectLst/>
                          <a:latin typeface="Times New Roman" panose="02020603050405020304" pitchFamily="18" charset="0"/>
                          <a:ea typeface="+mn-ea"/>
                          <a:cs typeface="Times New Roman" panose="02020603050405020304" pitchFamily="18" charset="0"/>
                        </a:rPr>
                        <a:t>scores.To</a:t>
                      </a:r>
                      <a:r>
                        <a:rPr lang="en-US" sz="1600" kern="1200" dirty="0">
                          <a:solidFill>
                            <a:schemeClr val="dk1"/>
                          </a:solidFill>
                          <a:effectLst/>
                          <a:latin typeface="Times New Roman" panose="02020603050405020304" pitchFamily="18" charset="0"/>
                          <a:ea typeface="+mn-ea"/>
                          <a:cs typeface="Times New Roman" panose="02020603050405020304" pitchFamily="18" charset="0"/>
                        </a:rPr>
                        <a:t> provide you with more relevant information, could you please clarify how you would like to use this reference? Are you looking for a summary, an explanation of its methods, or something else?</a:t>
                      </a:r>
                    </a:p>
                    <a:p>
                      <a:pPr algn="just"/>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340064">
                <a:tc>
                  <a:txBody>
                    <a:bodyPr/>
                    <a:lstStyle/>
                    <a:p>
                      <a:pPr algn="just"/>
                      <a:r>
                        <a:rPr lang="en-US">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2021</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Charbuty</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B., Abdulazeez A.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Classification based on decision tree algorithm for machine learning. </a:t>
                      </a:r>
                      <a:r>
                        <a:rPr lang="en-IN" sz="1600" b="0" i="1" kern="1200" dirty="0">
                          <a:solidFill>
                            <a:schemeClr val="dk1"/>
                          </a:solidFill>
                          <a:effectLst/>
                          <a:latin typeface="Times New Roman" panose="02020603050405020304" pitchFamily="18" charset="0"/>
                          <a:ea typeface="+mn-ea"/>
                          <a:cs typeface="Times New Roman" panose="02020603050405020304" pitchFamily="18" charset="0"/>
                        </a:rPr>
                        <a:t>J.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It looks like you're referencing a paper on decision tree classifiers in machine learning. Based on the abstract snippet provided, the paper seems to discuss the prominence of decision tree algorithms in data classification and their various applications.</a:t>
                      </a:r>
                    </a:p>
                    <a:p>
                      <a:pPr algn="just"/>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8F1729D-250B-6E0A-C1A6-3FCA06B835AD}"/>
              </a:ext>
            </a:extLst>
          </p:cNvPr>
          <p:cNvGraphicFramePr>
            <a:graphicFrameLocks noGrp="1"/>
          </p:cNvGraphicFramePr>
          <p:nvPr>
            <p:extLst>
              <p:ext uri="{D42A27DB-BD31-4B8C-83A1-F6EECF244321}">
                <p14:modId xmlns:p14="http://schemas.microsoft.com/office/powerpoint/2010/main" val="261547782"/>
              </p:ext>
            </p:extLst>
          </p:nvPr>
        </p:nvGraphicFramePr>
        <p:xfrm>
          <a:off x="869032" y="939567"/>
          <a:ext cx="10453935" cy="4821896"/>
        </p:xfrm>
        <a:graphic>
          <a:graphicData uri="http://schemas.openxmlformats.org/drawingml/2006/table">
            <a:tbl>
              <a:tblPr firstRow="1" bandRow="1">
                <a:tableStyleId>{5C22544A-7EE6-4342-B048-85BDC9FD1C3A}</a:tableStyleId>
              </a:tblPr>
              <a:tblGrid>
                <a:gridCol w="829957">
                  <a:extLst>
                    <a:ext uri="{9D8B030D-6E8A-4147-A177-3AD203B41FA5}">
                      <a16:colId xmlns:a16="http://schemas.microsoft.com/office/drawing/2014/main" val="20000"/>
                    </a:ext>
                  </a:extLst>
                </a:gridCol>
                <a:gridCol w="1499727">
                  <a:extLst>
                    <a:ext uri="{9D8B030D-6E8A-4147-A177-3AD203B41FA5}">
                      <a16:colId xmlns:a16="http://schemas.microsoft.com/office/drawing/2014/main" val="20001"/>
                    </a:ext>
                  </a:extLst>
                </a:gridCol>
                <a:gridCol w="1753618">
                  <a:extLst>
                    <a:ext uri="{9D8B030D-6E8A-4147-A177-3AD203B41FA5}">
                      <a16:colId xmlns:a16="http://schemas.microsoft.com/office/drawing/2014/main" val="20002"/>
                    </a:ext>
                  </a:extLst>
                </a:gridCol>
                <a:gridCol w="1920053">
                  <a:extLst>
                    <a:ext uri="{9D8B030D-6E8A-4147-A177-3AD203B41FA5}">
                      <a16:colId xmlns:a16="http://schemas.microsoft.com/office/drawing/2014/main" val="20003"/>
                    </a:ext>
                  </a:extLst>
                </a:gridCol>
                <a:gridCol w="4450580">
                  <a:extLst>
                    <a:ext uri="{9D8B030D-6E8A-4147-A177-3AD203B41FA5}">
                      <a16:colId xmlns:a16="http://schemas.microsoft.com/office/drawing/2014/main" val="20004"/>
                    </a:ext>
                  </a:extLst>
                </a:gridCol>
              </a:tblGrid>
              <a:tr h="493736">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5</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2020</a:t>
                      </a:r>
                    </a:p>
                    <a:p>
                      <a:pPr algn="just">
                        <a:lnSpc>
                          <a:spcPct val="150000"/>
                        </a:lnSpc>
                      </a:pPr>
                      <a:endParaRPr lang="en-US" sz="1600" b="0" i="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Fothergill</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-Misbah N.,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Maroo</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H., Hooker J.,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Kwasa</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J., Walker R. </a:t>
                      </a:r>
                      <a:endParaRPr lang="en-US" sz="16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Parkinson's disease medication in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kenya</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–situation analysis. Pharmaceutica l J. Kenya. 24, 38–41.</a:t>
                      </a:r>
                    </a:p>
                  </a:txBody>
                  <a:tcPr/>
                </a:tc>
                <a:tc>
                  <a:txBody>
                    <a:bodyPr/>
                    <a:lstStyle/>
                    <a:p>
                      <a:pPr algn="just"/>
                      <a:r>
                        <a:rPr lang="en-US" sz="1600" i="0" dirty="0">
                          <a:latin typeface="Times New Roman" panose="02020603050405020304" pitchFamily="18" charset="0"/>
                          <a:cs typeface="Times New Roman" panose="02020603050405020304" pitchFamily="18" charset="0"/>
                        </a:rPr>
                        <a:t>Addressing the gaps in medication availability and healthcare infrastructure is crucial for improving the quality of life for Parkinson’s disease patients in Kenya. Recommendations include increasing funding for Parkinson’s disease treatments, expanding healthcare training, and developing more robust distribution networks to ensure equitable access to necessary medications.</a:t>
                      </a:r>
                    </a:p>
                    <a:p>
                      <a:pPr algn="just"/>
                      <a:endParaRPr lang="en-IN" sz="160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340064">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6</a:t>
                      </a:r>
                    </a:p>
                  </a:txBody>
                  <a:tcPr/>
                </a:tc>
                <a:tc>
                  <a:txBody>
                    <a:bodyPr/>
                    <a:lstStyle/>
                    <a:p>
                      <a:pPr algn="just">
                        <a:lnSpc>
                          <a:spcPct val="150000"/>
                        </a:lnSpc>
                      </a:pP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2019</a:t>
                      </a:r>
                    </a:p>
                    <a:p>
                      <a:pPr algn="just">
                        <a:lnSpc>
                          <a:spcPct val="150000"/>
                        </a:lnSpc>
                      </a:pPr>
                      <a:endParaRPr lang="en-US" sz="1600" b="0" i="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Hossain E., Hossain M. F., </a:t>
                      </a:r>
                      <a:r>
                        <a:rPr lang="en-US" sz="1600" b="0" i="0" kern="1200" dirty="0" err="1">
                          <a:solidFill>
                            <a:schemeClr val="dk1"/>
                          </a:solidFill>
                          <a:effectLst/>
                          <a:latin typeface="Times New Roman" panose="02020603050405020304" pitchFamily="18" charset="0"/>
                          <a:ea typeface="+mn-ea"/>
                          <a:cs typeface="Times New Roman" panose="02020603050405020304" pitchFamily="18" charset="0"/>
                        </a:rPr>
                        <a:t>Rahaman</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 M. A. </a:t>
                      </a:r>
                    </a:p>
                  </a:txBody>
                  <a:tcPr/>
                </a:tc>
                <a:tc>
                  <a:txBody>
                    <a:bodyPr/>
                    <a:lstStyle/>
                    <a:p>
                      <a:pPr algn="just"/>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“A color and texture based approach for the detection and classification of plant leaf disease using </a:t>
                      </a:r>
                      <a:r>
                        <a:rPr lang="en-US" sz="1600" b="0" i="0" kern="1200" dirty="0" err="1">
                          <a:solidFill>
                            <a:schemeClr val="dk1"/>
                          </a:solidFill>
                          <a:effectLst/>
                          <a:latin typeface="Times New Roman" panose="02020603050405020304" pitchFamily="18" charset="0"/>
                          <a:ea typeface="+mn-ea"/>
                          <a:cs typeface="Times New Roman" panose="02020603050405020304" pitchFamily="18" charset="0"/>
                        </a:rPr>
                        <a:t>knn</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 classifier,” </a:t>
                      </a:r>
                      <a:endParaRPr lang="en-IN" sz="16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600" i="0" kern="1200" dirty="0">
                          <a:solidFill>
                            <a:schemeClr val="dk1"/>
                          </a:solidFill>
                          <a:effectLst/>
                          <a:latin typeface="Times New Roman" panose="02020603050405020304" pitchFamily="18" charset="0"/>
                          <a:ea typeface="+mn-ea"/>
                          <a:cs typeface="Times New Roman" panose="02020603050405020304" pitchFamily="18" charset="0"/>
                        </a:rPr>
                        <a:t>It seems like you're referencing a paper or study authored by Hossain E., Hossain M. F., and </a:t>
                      </a:r>
                      <a:r>
                        <a:rPr lang="en-US" sz="1600" i="0" kern="1200" dirty="0" err="1">
                          <a:solidFill>
                            <a:schemeClr val="dk1"/>
                          </a:solidFill>
                          <a:effectLst/>
                          <a:latin typeface="Times New Roman" panose="02020603050405020304" pitchFamily="18" charset="0"/>
                          <a:ea typeface="+mn-ea"/>
                          <a:cs typeface="Times New Roman" panose="02020603050405020304" pitchFamily="18" charset="0"/>
                        </a:rPr>
                        <a:t>Rahaman</a:t>
                      </a:r>
                      <a:r>
                        <a:rPr lang="en-US" sz="1600" i="0" kern="1200" dirty="0">
                          <a:solidFill>
                            <a:schemeClr val="dk1"/>
                          </a:solidFill>
                          <a:effectLst/>
                          <a:latin typeface="Times New Roman" panose="02020603050405020304" pitchFamily="18" charset="0"/>
                          <a:ea typeface="+mn-ea"/>
                          <a:cs typeface="Times New Roman" panose="02020603050405020304" pitchFamily="18" charset="0"/>
                        </a:rPr>
                        <a:t> M. A. from 2019. Could you provide more details or specify what information you need about this reference? For example, are you looking for a summary of the study, information about the authors, or something else?</a:t>
                      </a:r>
                    </a:p>
                    <a:p>
                      <a:pPr algn="just"/>
                      <a:endParaRPr lang="en-IN" sz="160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004108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451098" y="48414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EXISTING SYSTEM</a:t>
            </a:r>
          </a:p>
        </p:txBody>
      </p:sp>
      <p:sp>
        <p:nvSpPr>
          <p:cNvPr id="2" name="Rectangle 1"/>
          <p:cNvSpPr/>
          <p:nvPr/>
        </p:nvSpPr>
        <p:spPr>
          <a:xfrm>
            <a:off x="1247043" y="1859609"/>
            <a:ext cx="8783221" cy="2540888"/>
          </a:xfrm>
          <a:prstGeom prst="rect">
            <a:avLst/>
          </a:prstGeom>
        </p:spPr>
        <p:txBody>
          <a:bodyPr wrap="square">
            <a:spAutoFit/>
          </a:bodyPr>
          <a:lstStyle/>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rPr>
              <a:t>Current methods for Parkinson’s Disease (PD) diagnosis primarily involve clinical assessments and neurological examinations, which often detect symptoms only in later stages. Conventional diagnostic tools include motor function tests and subjective evaluations of speech and movement. Although some systems utilize speech analysis, they typically rely on manual feature extraction and traditional statistical methods, which may lack the precision and efficiency of modern machine learning techniques.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376247" y="0"/>
            <a:ext cx="4529797" cy="68931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DISADVANTAGES</a:t>
            </a:r>
          </a:p>
        </p:txBody>
      </p:sp>
      <p:sp>
        <p:nvSpPr>
          <p:cNvPr id="3" name="Rectangle 2"/>
          <p:cNvSpPr/>
          <p:nvPr/>
        </p:nvSpPr>
        <p:spPr>
          <a:xfrm>
            <a:off x="678822" y="1602298"/>
            <a:ext cx="9530579" cy="3782061"/>
          </a:xfrm>
          <a:prstGeom prst="rect">
            <a:avLst/>
          </a:prstGeom>
        </p:spPr>
        <p:txBody>
          <a:bodyPr wrap="square">
            <a:spAutoFit/>
          </a:bodyPr>
          <a:lstStyle/>
          <a:p>
            <a:pPr algn="just">
              <a:lnSpc>
                <a:spcPct val="150000"/>
              </a:lnSpc>
            </a:pPr>
            <a:r>
              <a:rPr lang="en-IN" sz="1800" b="1" dirty="0">
                <a:effectLst/>
                <a:latin typeface="Times New Roman" panose="02020603050405020304" pitchFamily="18" charset="0"/>
                <a:ea typeface="Times New Roman" panose="02020603050405020304" pitchFamily="18" charset="0"/>
              </a:rPr>
              <a:t>Late Detection</a:t>
            </a:r>
            <a:r>
              <a:rPr lang="en-IN" sz="1800" dirty="0">
                <a:effectLst/>
                <a:latin typeface="Times New Roman" panose="02020603050405020304" pitchFamily="18" charset="0"/>
                <a:ea typeface="Times New Roman" panose="02020603050405020304" pitchFamily="18" charset="0"/>
              </a:rPr>
              <a:t>: Traditional methods often identify Parkinson’s Disease at more advanced stages, reducing the effectiveness of early intervention and treatment options.</a:t>
            </a:r>
          </a:p>
          <a:p>
            <a:pPr algn="just">
              <a:lnSpc>
                <a:spcPct val="150000"/>
              </a:lnSpc>
            </a:pPr>
            <a:r>
              <a:rPr lang="en-IN" sz="1800" b="1" dirty="0">
                <a:effectLst/>
                <a:latin typeface="Times New Roman" panose="02020603050405020304" pitchFamily="18" charset="0"/>
                <a:ea typeface="Times New Roman" panose="02020603050405020304" pitchFamily="18" charset="0"/>
              </a:rPr>
              <a:t>Subjectivity</a:t>
            </a:r>
            <a:r>
              <a:rPr lang="en-IN" sz="1800" dirty="0">
                <a:effectLst/>
                <a:latin typeface="Times New Roman" panose="02020603050405020304" pitchFamily="18" charset="0"/>
                <a:ea typeface="Times New Roman" panose="02020603050405020304" pitchFamily="18" charset="0"/>
              </a:rPr>
              <a:t>: Clinical assessments and neurological evaluations can be subjective, leading to variability in diagnoses and potential inconsistencies in patient evaluation.</a:t>
            </a:r>
          </a:p>
          <a:p>
            <a:pPr algn="just">
              <a:lnSpc>
                <a:spcPct val="150000"/>
              </a:lnSpc>
            </a:pPr>
            <a:r>
              <a:rPr lang="en-IN" sz="1800" b="1" dirty="0">
                <a:effectLst/>
                <a:latin typeface="Times New Roman" panose="02020603050405020304" pitchFamily="18" charset="0"/>
                <a:ea typeface="Times New Roman" panose="02020603050405020304" pitchFamily="18" charset="0"/>
              </a:rPr>
              <a:t>Manual Feature Extraction</a:t>
            </a:r>
            <a:r>
              <a:rPr lang="en-IN" sz="1800" dirty="0">
                <a:effectLst/>
                <a:latin typeface="Times New Roman" panose="02020603050405020304" pitchFamily="18" charset="0"/>
                <a:ea typeface="Times New Roman" panose="02020603050405020304" pitchFamily="18" charset="0"/>
              </a:rPr>
              <a:t>: Existing systems that use speech analysis frequently rely on manual feature extraction and traditional statistical techniques, which may lack precision and fail to capture subtle patterns indicative of PD.</a:t>
            </a:r>
          </a:p>
          <a:p>
            <a:pPr algn="just">
              <a:lnSpc>
                <a:spcPct val="150000"/>
              </a:lnSpc>
            </a:pPr>
            <a:r>
              <a:rPr lang="en-IN" sz="1800" b="1" dirty="0">
                <a:effectLst/>
                <a:latin typeface="Times New Roman" panose="02020603050405020304" pitchFamily="18" charset="0"/>
                <a:ea typeface="Times New Roman" panose="02020603050405020304" pitchFamily="18" charset="0"/>
              </a:rPr>
              <a:t>Scalability Issues</a:t>
            </a:r>
            <a:r>
              <a:rPr lang="en-IN" sz="1800" dirty="0">
                <a:effectLst/>
                <a:latin typeface="Times New Roman" panose="02020603050405020304" pitchFamily="18" charset="0"/>
                <a:ea typeface="Times New Roman" panose="02020603050405020304" pitchFamily="18" charset="0"/>
              </a:rPr>
              <a:t>: Current diagnostic methods can be resource-intensive and may not easily scale for large populations, limiting their accessibility and efficiency in widespread screening and diagnosis.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04703" y="456235"/>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PROPOSED METHOD</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113731" y="1694523"/>
            <a:ext cx="8818061" cy="3371885"/>
          </a:xfrm>
          <a:prstGeom prst="rect">
            <a:avLst/>
          </a:prstGeom>
        </p:spPr>
        <p:txBody>
          <a:bodyPr wrap="square">
            <a:spAutoFit/>
          </a:bodyPr>
          <a:lstStyle/>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proposed system aims to enhance Parkinson’s Disease (PD) detection through advanced deep learning techniques. Utilizing Convolutional Neural Networks (CNN) and Support Vector Machines (SVM) and Random Forest, this system will analyze speech features extracted from the dataset to identify subtle patterns associated with PD. By employing these state-of-the-art machine learning algorithms, the system promises more accurate and early diagnosis compared to traditional methods. The CNN will automatically learn and extract relevant features from speech data, while the SVM will classify the presence of PD with high precision. Additionally, an frequently ask question related to Parkinson’s Disease.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46697" y="-14068"/>
            <a:ext cx="4023360" cy="618978"/>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167663" y="1409345"/>
            <a:ext cx="7573665" cy="2669129"/>
          </a:xfrm>
          <a:prstGeom prst="rect">
            <a:avLst/>
          </a:prstGeom>
        </p:spPr>
        <p:txBody>
          <a:bodyPr wrap="square">
            <a:spAutoFit/>
          </a:bodyPr>
          <a:lstStyle/>
          <a:p>
            <a:pPr marL="228600"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Early Detection: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use of deep learning techniques allows for the early identification of Parkinson’s Disease by analyzing subtle speech patterns, enabling timely intervention and treatment.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High Accuracy: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Convolutional Neural Networks (CNN) and Support Vector Machines (SVM) provide precise classification of speech features, leading to more accurate diagnoses compared to traditional methods.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8078" y="352984"/>
            <a:ext cx="8911687" cy="590542"/>
          </a:xfrm>
        </p:spPr>
        <p:txBody>
          <a:bodyPr>
            <a:normAutofit/>
          </a:bodyPr>
          <a:lstStyle/>
          <a:p>
            <a:pPr algn="ctr"/>
            <a:r>
              <a:rPr lang="en-US" sz="2400" b="1" dirty="0">
                <a:solidFill>
                  <a:schemeClr val="tx2"/>
                </a:solidFill>
                <a:latin typeface="Times New Roman" panose="02020603050405020304" pitchFamily="18" charset="0"/>
                <a:cs typeface="Times New Roman" panose="02020603050405020304" pitchFamily="18" charset="0"/>
              </a:rPr>
              <a:t>BLOCK DIAGRAM</a:t>
            </a:r>
          </a:p>
        </p:txBody>
      </p:sp>
      <p:pic>
        <p:nvPicPr>
          <p:cNvPr id="5" name="Picture 4">
            <a:extLst>
              <a:ext uri="{FF2B5EF4-FFF2-40B4-BE49-F238E27FC236}">
                <a16:creationId xmlns:a16="http://schemas.microsoft.com/office/drawing/2014/main" id="{79842511-17B0-03E0-7F51-E11CA06D6587}"/>
              </a:ext>
            </a:extLst>
          </p:cNvPr>
          <p:cNvPicPr>
            <a:picLocks noChangeAspect="1"/>
          </p:cNvPicPr>
          <p:nvPr/>
        </p:nvPicPr>
        <p:blipFill rotWithShape="1">
          <a:blip r:embed="rId2">
            <a:extLst>
              <a:ext uri="{28A0092B-C50C-407E-A947-70E740481C1C}">
                <a14:useLocalDpi xmlns:a14="http://schemas.microsoft.com/office/drawing/2010/main" val="0"/>
              </a:ext>
            </a:extLst>
          </a:blip>
          <a:srcRect t="9175" b="2753"/>
          <a:stretch/>
        </p:blipFill>
        <p:spPr>
          <a:xfrm>
            <a:off x="1941151" y="1069595"/>
            <a:ext cx="7145539" cy="5222147"/>
          </a:xfrm>
          <a:prstGeom prst="rect">
            <a:avLst/>
          </a:prstGeom>
        </p:spPr>
      </p:pic>
    </p:spTree>
    <p:extLst>
      <p:ext uri="{BB962C8B-B14F-4D97-AF65-F5344CB8AC3E}">
        <p14:creationId xmlns:p14="http://schemas.microsoft.com/office/powerpoint/2010/main" val="2805858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p:nvPr/>
        </p:nvSpPr>
        <p:spPr>
          <a:xfrm>
            <a:off x="984738" y="1412726"/>
            <a:ext cx="9214340" cy="5445274"/>
          </a:xfrm>
          <a:prstGeom prst="rect">
            <a:avLst/>
          </a:prstGeom>
        </p:spPr>
        <p:txBody>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Font typeface="Arial" panose="020B0604020202020204"/>
              <a:buNone/>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p>
          <a:p>
            <a:pPr algn="just">
              <a:lnSpc>
                <a:spcPct val="150000"/>
              </a:lnSpc>
            </a:pPr>
            <a:r>
              <a:rPr lang="en-US" sz="2000" dirty="0">
                <a:latin typeface="Times New Roman" panose="02020603050405020304" pitchFamily="18" charset="0"/>
                <a:cs typeface="Times New Roman" panose="02020603050405020304" pitchFamily="18" charset="0"/>
              </a:rPr>
              <a:t>Operating System			:  Windows 7/8/10</a:t>
            </a:r>
          </a:p>
          <a:p>
            <a:pPr algn="just">
              <a:lnSpc>
                <a:spcPct val="150000"/>
              </a:lnSpc>
            </a:pPr>
            <a:r>
              <a:rPr lang="en-US" sz="2000" dirty="0">
                <a:latin typeface="Times New Roman" panose="02020603050405020304" pitchFamily="18" charset="0"/>
                <a:cs typeface="Times New Roman" panose="02020603050405020304" pitchFamily="18" charset="0"/>
              </a:rPr>
              <a:t>Server side Script			:  HTML, CSS, Bootstrap &amp; JS</a:t>
            </a:r>
          </a:p>
          <a:p>
            <a:pPr algn="just">
              <a:lnSpc>
                <a:spcPct val="150000"/>
              </a:lnSpc>
            </a:pPr>
            <a:r>
              <a:rPr lang="en-US" sz="2000" dirty="0">
                <a:latin typeface="Times New Roman" panose="02020603050405020304" pitchFamily="18" charset="0"/>
                <a:cs typeface="Times New Roman" panose="02020603050405020304" pitchFamily="18" charset="0"/>
              </a:rPr>
              <a:t>Programming Language	:  Python</a:t>
            </a:r>
          </a:p>
          <a:p>
            <a:pPr algn="just">
              <a:lnSpc>
                <a:spcPct val="150000"/>
              </a:lnSpc>
            </a:pPr>
            <a:r>
              <a:rPr lang="en-US" sz="2000" dirty="0">
                <a:latin typeface="Times New Roman" panose="02020603050405020304" pitchFamily="18" charset="0"/>
                <a:cs typeface="Times New Roman" panose="02020603050405020304" pitchFamily="18" charset="0"/>
              </a:rPr>
              <a:t>Libraries					:  Flask, Pandas, </a:t>
            </a:r>
            <a:r>
              <a:rPr lang="en-US" sz="2000" dirty="0" err="1">
                <a:latin typeface="Times New Roman" panose="02020603050405020304" pitchFamily="18" charset="0"/>
                <a:cs typeface="Times New Roman" panose="02020603050405020304" pitchFamily="18" charset="0"/>
              </a:rPr>
              <a:t>Mysql.connector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Smtplib</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Numpy</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 IDE/Workbench			:  PyCharm, VS-Code</a:t>
            </a:r>
          </a:p>
          <a:p>
            <a:pPr algn="just">
              <a:lnSpc>
                <a:spcPct val="150000"/>
              </a:lnSpc>
            </a:pPr>
            <a:r>
              <a:rPr lang="en-US" sz="2000" dirty="0">
                <a:latin typeface="Times New Roman" panose="02020603050405020304" pitchFamily="18" charset="0"/>
                <a:cs typeface="Times New Roman" panose="02020603050405020304" pitchFamily="18" charset="0"/>
              </a:rPr>
              <a:t>Technology				:  Python 3.6+</a:t>
            </a:r>
          </a:p>
          <a:p>
            <a:pPr algn="just">
              <a:lnSpc>
                <a:spcPct val="150000"/>
              </a:lnSpc>
            </a:pPr>
            <a:r>
              <a:rPr lang="en-US" sz="2000" dirty="0">
                <a:latin typeface="Times New Roman" panose="02020603050405020304" pitchFamily="18" charset="0"/>
                <a:cs typeface="Times New Roman" panose="02020603050405020304" pitchFamily="18" charset="0"/>
              </a:rPr>
              <a:t>Server Deployment			:  </a:t>
            </a:r>
            <a:r>
              <a:rPr lang="en-US" sz="2000" dirty="0" err="1">
                <a:latin typeface="Times New Roman" panose="02020603050405020304" pitchFamily="18" charset="0"/>
                <a:cs typeface="Times New Roman" panose="02020603050405020304" pitchFamily="18" charset="0"/>
              </a:rPr>
              <a:t>Xampp</a:t>
            </a:r>
            <a:r>
              <a:rPr lang="en-US" sz="2000" dirty="0">
                <a:latin typeface="Times New Roman" panose="02020603050405020304" pitchFamily="18" charset="0"/>
                <a:cs typeface="Times New Roman" panose="02020603050405020304" pitchFamily="18" charset="0"/>
              </a:rPr>
              <a:t> Server</a:t>
            </a:r>
          </a:p>
          <a:p>
            <a:pPr algn="just">
              <a:lnSpc>
                <a:spcPct val="150000"/>
              </a:lnSpc>
            </a:pPr>
            <a:r>
              <a:rPr lang="en-US" sz="2000" dirty="0">
                <a:latin typeface="Times New Roman" panose="02020603050405020304" pitchFamily="18" charset="0"/>
                <a:cs typeface="Times New Roman" panose="02020603050405020304" pitchFamily="18" charset="0"/>
              </a:rPr>
              <a:t>Database					:  MySQL</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5" name="Title 1"/>
          <p:cNvSpPr txBox="1"/>
          <p:nvPr/>
        </p:nvSpPr>
        <p:spPr>
          <a:xfrm>
            <a:off x="1706394" y="0"/>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804410" y="2044100"/>
            <a:ext cx="8596668" cy="3880773"/>
          </a:xfrm>
          <a:prstGeom prst="rect">
            <a:avLst/>
          </a:prstGeom>
        </p:spPr>
        <p:txBody>
          <a:bodyPr>
            <a:normAutofit fontScale="85000"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accent3">
                    <a:lumMod val="50000"/>
                  </a:schemeClr>
                </a:solidFill>
                <a:latin typeface="Times New Roman" panose="02020603050405020304" pitchFamily="18" charset="0"/>
                <a:cs typeface="Times New Roman" panose="02020603050405020304" pitchFamily="18" charset="0"/>
              </a:rPr>
              <a:t>HARDWARE REQUIREMENTS</a:t>
            </a:r>
            <a:endParaRPr lang="en-US"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Processor            	                   - I5/Intel Processor</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RAM                                       - 8GB (min)</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Hard Disk                                - 160 GB</a:t>
            </a:r>
          </a:p>
          <a:p>
            <a:pPr algn="just">
              <a:lnSpc>
                <a:spcPct val="150000"/>
              </a:lnSpc>
            </a:pPr>
            <a:r>
              <a:rPr lang="en-US"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US"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US" dirty="0">
                <a:latin typeface="Times New Roman" panose="02020603050405020304" pitchFamily="18" charset="0"/>
                <a:cs typeface="Times New Roman" panose="02020603050405020304" pitchFamily="18" charset="0"/>
              </a:rPr>
              <a:t>Monitor                                    - Any</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319939" y="1911179"/>
            <a:ext cx="9792904" cy="417658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latin typeface="Times New Roman" panose="02020603050405020304" pitchFamily="18" charset="0"/>
                <a:cs typeface="Times New Roman" panose="02020603050405020304" pitchFamily="18" charset="0"/>
              </a:rPr>
              <a:t>Functional Requirements</a:t>
            </a:r>
            <a:r>
              <a:rPr lang="en-US" sz="2000" dirty="0">
                <a:latin typeface="Times New Roman" panose="02020603050405020304" pitchFamily="18" charset="0"/>
                <a:cs typeface="Times New Roman" panose="02020603050405020304" pitchFamily="18" charset="0"/>
              </a:rPr>
              <a:t>: 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070918" y="1672282"/>
            <a:ext cx="10412628" cy="4547286"/>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Examples of functional requirements: </a:t>
            </a:r>
          </a:p>
          <a:p>
            <a:pPr lvl="0" algn="just" fontAlgn="base">
              <a:lnSpc>
                <a:spcPct val="150000"/>
              </a:lnSpc>
            </a:pPr>
            <a:r>
              <a:rPr lang="en-US" sz="2000" dirty="0">
                <a:latin typeface="Times New Roman" panose="02020603050405020304" pitchFamily="18" charset="0"/>
                <a:cs typeface="Times New Roman" panose="02020603050405020304" pitchFamily="18" charset="0"/>
              </a:rPr>
              <a:t>Authentication of user whenever he/she logs into the system</a:t>
            </a:r>
          </a:p>
          <a:p>
            <a:pPr lvl="0" algn="just" fontAlgn="base">
              <a:lnSpc>
                <a:spcPct val="150000"/>
              </a:lnSpc>
            </a:pPr>
            <a:r>
              <a:rPr lang="en-US" sz="2000" dirty="0">
                <a:latin typeface="Times New Roman" panose="02020603050405020304" pitchFamily="18" charset="0"/>
                <a:cs typeface="Times New Roman" panose="02020603050405020304" pitchFamily="18" charset="0"/>
              </a:rPr>
              <a:t>System shutdown in case of a cyber-attack</a:t>
            </a:r>
          </a:p>
          <a:p>
            <a:pPr lvl="0" algn="just" fontAlgn="base">
              <a:lnSpc>
                <a:spcPct val="150000"/>
              </a:lnSpc>
            </a:pPr>
            <a:r>
              <a:rPr lang="en-US" sz="2000" dirty="0">
                <a:latin typeface="Times New Roman" panose="02020603050405020304" pitchFamily="18" charset="0"/>
                <a:cs typeface="Times New Roman" panose="02020603050405020304" pitchFamily="18" charset="0"/>
              </a:rPr>
              <a:t>A verification email is sent to user whenever he/she register for the first time on some software system.</a:t>
            </a:r>
          </a:p>
          <a:p>
            <a:pPr algn="just">
              <a:lnSpc>
                <a:spcPct val="150000"/>
              </a:lnSpc>
            </a:pPr>
            <a:r>
              <a:rPr lang="en-US" sz="2000" b="1" dirty="0">
                <a:latin typeface="Times New Roman" panose="02020603050405020304" pitchFamily="18" charset="0"/>
                <a:cs typeface="Times New Roman" panose="02020603050405020304" pitchFamily="18" charset="0"/>
              </a:rPr>
              <a:t>Non-functional requirements</a:t>
            </a:r>
            <a:r>
              <a:rPr lang="en-US" sz="2000" dirty="0">
                <a:latin typeface="Times New Roman" panose="02020603050405020304" pitchFamily="18" charset="0"/>
                <a:cs typeface="Times New Roman" panose="02020603050405020304" pitchFamily="18" charset="0"/>
              </a:rPr>
              <a:t>: These are basically the quality constraints that the system must satisfy according to the project contract. The priority or extent to which these factors are implemented varies from one project to other. They are also called non-behavioral requirements.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20222"/>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86183" y="451728"/>
            <a:ext cx="3538280" cy="490807"/>
          </a:xfrm>
        </p:spPr>
        <p:txBody>
          <a:bodyPr>
            <a:normAutofit/>
          </a:bodyPr>
          <a:lstStyle/>
          <a:p>
            <a:pPr algn="ctr"/>
            <a:r>
              <a:rPr lang="en-US" sz="2400" b="1" dirty="0">
                <a:solidFill>
                  <a:schemeClr val="tx2"/>
                </a:solidFill>
                <a:latin typeface="Times New Roman" panose="02020603050405020304" pitchFamily="18" charset="0"/>
                <a:cs typeface="Times New Roman" panose="02020603050405020304" pitchFamily="18" charset="0"/>
              </a:rPr>
              <a:t>ARCHITECTURE</a:t>
            </a:r>
          </a:p>
        </p:txBody>
      </p:sp>
      <p:pic>
        <p:nvPicPr>
          <p:cNvPr id="4" name="Picture 3">
            <a:extLst>
              <a:ext uri="{FF2B5EF4-FFF2-40B4-BE49-F238E27FC236}">
                <a16:creationId xmlns:a16="http://schemas.microsoft.com/office/drawing/2014/main" id="{AF1143EB-41DC-E7CA-A02E-5ECBE70592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8975" y="1371600"/>
            <a:ext cx="5734050" cy="4114800"/>
          </a:xfrm>
          <a:prstGeom prst="rect">
            <a:avLst/>
          </a:prstGeom>
        </p:spPr>
      </p:pic>
    </p:spTree>
    <p:extLst>
      <p:ext uri="{BB962C8B-B14F-4D97-AF65-F5344CB8AC3E}">
        <p14:creationId xmlns:p14="http://schemas.microsoft.com/office/powerpoint/2010/main" val="432478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9FDAFE-55EF-D24D-8AD8-026344D7CD0B}"/>
              </a:ext>
            </a:extLst>
          </p:cNvPr>
          <p:cNvSpPr txBox="1"/>
          <p:nvPr/>
        </p:nvSpPr>
        <p:spPr>
          <a:xfrm>
            <a:off x="4316330" y="-65693"/>
            <a:ext cx="2243861" cy="823752"/>
          </a:xfrm>
          <a:prstGeom prst="rect">
            <a:avLst/>
          </a:prstGeom>
          <a:noFill/>
        </p:spPr>
        <p:txBody>
          <a:bodyPr wrap="square">
            <a:spAutoFit/>
          </a:bodyPr>
          <a:lstStyle/>
          <a:p>
            <a:pPr>
              <a:lnSpc>
                <a:spcPct val="150000"/>
              </a:lnSpc>
            </a:pPr>
            <a:r>
              <a:rPr lang="en-US" sz="3600" b="1" dirty="0">
                <a:solidFill>
                  <a:schemeClr val="tx2"/>
                </a:solidFill>
                <a:latin typeface="Times New Roman" panose="02020603050405020304" pitchFamily="18" charset="0"/>
                <a:cs typeface="Times New Roman" panose="02020603050405020304" pitchFamily="18" charset="0"/>
              </a:rPr>
              <a:t>Algorithm</a:t>
            </a:r>
          </a:p>
        </p:txBody>
      </p:sp>
      <p:pic>
        <p:nvPicPr>
          <p:cNvPr id="1026" name="Picture 2" descr="Introduction to Convolution Neural Network - GeeksforGeeks">
            <a:extLst>
              <a:ext uri="{FF2B5EF4-FFF2-40B4-BE49-F238E27FC236}">
                <a16:creationId xmlns:a16="http://schemas.microsoft.com/office/drawing/2014/main" id="{919E5790-B478-F205-793B-CCE701F1E8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3139" y="1650665"/>
            <a:ext cx="4915948" cy="359245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BB94C7F-A038-0713-EB16-A6AC35DE6AED}"/>
              </a:ext>
            </a:extLst>
          </p:cNvPr>
          <p:cNvSpPr txBox="1"/>
          <p:nvPr/>
        </p:nvSpPr>
        <p:spPr>
          <a:xfrm>
            <a:off x="0" y="917912"/>
            <a:ext cx="6098796" cy="5940088"/>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Parkinson's disease detection using Convolutional Neural Networks (CNNs) represents a cutting-edge approach in medical diagnostics. CNNs are a class of deep learning models particularly effective for image and signal processing tasks, making them suitable for analyzing medical imaging data such as MRI scans or hand-drawn spiral tests, often used in Parkinson's disease diagnosis. These networks automatically extract features from input data, identifying subtle patterns indicative of the disease that might be missed by traditional methods. CNNs have been trained on large datasets of medical images or gait patterns to distinguish between healthy individuals and those with Parkinson's disease with high accuracy. This technology holds promise for early detection, allowing for timely intervention and improved patient outcomes. By leveraging the power of CNNs, researchers are advancing the field of neurodegenerative disease diagnostics, pushing the boundaries of how we understand and identify Parkinson's disease in its earliest stages.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0669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upport Vector Machine (SVM) Algorithm - Javatpoint">
            <a:extLst>
              <a:ext uri="{FF2B5EF4-FFF2-40B4-BE49-F238E27FC236}">
                <a16:creationId xmlns:a16="http://schemas.microsoft.com/office/drawing/2014/main" id="{B9430262-8975-3952-D763-86F026A536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2760" y="1104550"/>
            <a:ext cx="5715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3D508EB-9868-6B1E-9866-C88646441D1C}"/>
              </a:ext>
            </a:extLst>
          </p:cNvPr>
          <p:cNvSpPr txBox="1"/>
          <p:nvPr/>
        </p:nvSpPr>
        <p:spPr>
          <a:xfrm>
            <a:off x="84240" y="406006"/>
            <a:ext cx="6132352" cy="6247864"/>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Support Vector Machines (SVM) are a powerful supervised learning technique widely used for Parkinson's disease detection. SVMs work by identifying the optimal hyperplane that separates data points belonging to different classes, in this case, distinguishing between healthy individuals and those with Parkinson's. This is particularly effective in handling high-dimensional datasets, which are common in medical diagnostics. The ability of SVMs to handle both linear and non-linear data makes them versatile for modeling complex relationships in biomedical data. In Parkinson's disease detection, SVMs are often employed to classify voice recordings, handwriting patterns, or other biomarkers that exhibit subtle differences between affected and unaffected individuals. By maximizing the margin between classes, SVMs provide robust classification even with small or noisy datasets. Their effectiveness in feature selection and ability to generalize well make SVMs a valuable tool in early and accurate detection of Parkinson's disease, ultimately aiding in timely intervention and treatment.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0824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andom Forest. Random Forest is an ensemble machine… | by Deniz Gunay |  Medium">
            <a:extLst>
              <a:ext uri="{FF2B5EF4-FFF2-40B4-BE49-F238E27FC236}">
                <a16:creationId xmlns:a16="http://schemas.microsoft.com/office/drawing/2014/main" id="{043FDD8D-7062-A7A5-1921-831F6E6C5E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5476" y="500281"/>
            <a:ext cx="4480158" cy="609346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88D923C-FCDA-5E15-38A0-C05070E64FD1}"/>
              </a:ext>
            </a:extLst>
          </p:cNvPr>
          <p:cNvSpPr txBox="1"/>
          <p:nvPr/>
        </p:nvSpPr>
        <p:spPr>
          <a:xfrm>
            <a:off x="-2796" y="0"/>
            <a:ext cx="6604932" cy="6695872"/>
          </a:xfrm>
          <a:prstGeom prst="rect">
            <a:avLst/>
          </a:prstGeom>
          <a:noFill/>
        </p:spPr>
        <p:txBody>
          <a:bodyPr wrap="square">
            <a:spAutoFit/>
          </a:bodyPr>
          <a:lstStyle/>
          <a:p>
            <a:pPr algn="just">
              <a:lnSpc>
                <a:spcPct val="150000"/>
              </a:lnSpc>
              <a:spcAft>
                <a:spcPts val="1000"/>
              </a:spcAf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 Forest is a powerful machine learning algorithm widely used for Parkinson's disease detection. It operates by constructing multiple decision trees during training and outputting the mode of the classes for classification tasks. In Parkinson's disease detection, Random Forest effectively handles the complexity of clinical and voice data, such as speech patterns, motor symptoms, and other biomarkers, by capturing intricate patterns that differentiate Parkinson's patients from healthy individuals. This ensemble learning method is robust against overfitting, ensuring high accuracy even with noisy or limited data. By averaging the predictions of individual trees, Random Forest reduces variance and improves the model's generalization to unseen data. Its ability to rank feature importance aids in identifying key predictors, enhancing interpretability and supporting medical decision-making. Random Forest's adaptability, scalability, and precision make it a valuable tool in developing reliable diagnostic models for early and accurate Parkinson's disease detection.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23344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38231" y="0"/>
            <a:ext cx="8912225" cy="519113"/>
          </a:xfrm>
        </p:spPr>
        <p:txBody>
          <a:bodyPr>
            <a:noAutofit/>
          </a:bodyPr>
          <a:lstStyle/>
          <a:p>
            <a:pPr algn="ctr"/>
            <a:r>
              <a:rPr lang="en-US" b="1" dirty="0">
                <a:solidFill>
                  <a:schemeClr val="tx2"/>
                </a:solidFill>
                <a:latin typeface="Times New Roman" panose="02020603050405020304" pitchFamily="18" charset="0"/>
                <a:cs typeface="Times New Roman" panose="02020603050405020304" pitchFamily="18" charset="0"/>
              </a:rPr>
              <a:t>REFERENCES</a:t>
            </a:r>
            <a:endParaRPr lang="en-US" dirty="0">
              <a:solidFill>
                <a:schemeClr val="tx2"/>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BA53BDD-7BF7-1E56-1728-41907131E489}"/>
              </a:ext>
            </a:extLst>
          </p:cNvPr>
          <p:cNvSpPr txBox="1"/>
          <p:nvPr/>
        </p:nvSpPr>
        <p:spPr>
          <a:xfrm>
            <a:off x="309693" y="980508"/>
            <a:ext cx="11572614" cy="5576976"/>
          </a:xfrm>
          <a:prstGeom prst="rect">
            <a:avLst/>
          </a:prstGeom>
          <a:noFill/>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1] </a:t>
            </a:r>
            <a:r>
              <a:rPr lang="en-IN" sz="2000" dirty="0" err="1">
                <a:latin typeface="Times New Roman" panose="02020603050405020304" pitchFamily="18" charset="0"/>
                <a:cs typeface="Times New Roman" panose="02020603050405020304" pitchFamily="18" charset="0"/>
              </a:rPr>
              <a:t>Abirami</a:t>
            </a:r>
            <a:r>
              <a:rPr lang="en-IN" sz="2000" dirty="0">
                <a:latin typeface="Times New Roman" panose="02020603050405020304" pitchFamily="18" charset="0"/>
                <a:cs typeface="Times New Roman" panose="02020603050405020304" pitchFamily="18" charset="0"/>
              </a:rPr>
              <a:t> S., Chitra P. (2020). Energy-efficient edge based real-time healthcare support system. Adv. Comp. 117, 339–368. 10.1016/bs.adcom.2019.09.007.</a:t>
            </a:r>
          </a:p>
          <a:p>
            <a:pPr algn="just">
              <a:lnSpc>
                <a:spcPct val="150000"/>
              </a:lnSpc>
            </a:pPr>
            <a:r>
              <a:rPr lang="en-IN" sz="2000" dirty="0">
                <a:latin typeface="Times New Roman" panose="02020603050405020304" pitchFamily="18" charset="0"/>
                <a:cs typeface="Times New Roman" panose="02020603050405020304" pitchFamily="18" charset="0"/>
              </a:rPr>
              <a:t>2] Al-</a:t>
            </a:r>
            <a:r>
              <a:rPr lang="en-IN" sz="2000" dirty="0" err="1">
                <a:latin typeface="Times New Roman" panose="02020603050405020304" pitchFamily="18" charset="0"/>
                <a:cs typeface="Times New Roman" panose="02020603050405020304" pitchFamily="18" charset="0"/>
              </a:rPr>
              <a:t>Fatlawi</a:t>
            </a:r>
            <a:r>
              <a:rPr lang="en-IN" sz="2000" dirty="0">
                <a:latin typeface="Times New Roman" panose="02020603050405020304" pitchFamily="18" charset="0"/>
                <a:cs typeface="Times New Roman" panose="02020603050405020304" pitchFamily="18" charset="0"/>
              </a:rPr>
              <a:t> A. H., </a:t>
            </a:r>
            <a:r>
              <a:rPr lang="en-IN" sz="2000" dirty="0" err="1">
                <a:latin typeface="Times New Roman" panose="02020603050405020304" pitchFamily="18" charset="0"/>
                <a:cs typeface="Times New Roman" panose="02020603050405020304" pitchFamily="18" charset="0"/>
              </a:rPr>
              <a:t>Jabardi</a:t>
            </a:r>
            <a:r>
              <a:rPr lang="en-IN" sz="2000" dirty="0">
                <a:latin typeface="Times New Roman" panose="02020603050405020304" pitchFamily="18" charset="0"/>
                <a:cs typeface="Times New Roman" panose="02020603050405020304" pitchFamily="18" charset="0"/>
              </a:rPr>
              <a:t> M. H., Ling S. H. (2016). “Efficient diagnosis system for </a:t>
            </a:r>
            <a:r>
              <a:rPr lang="en-IN" sz="2000" dirty="0" err="1">
                <a:latin typeface="Times New Roman" panose="02020603050405020304" pitchFamily="18" charset="0"/>
                <a:cs typeface="Times New Roman" panose="02020603050405020304" pitchFamily="18" charset="0"/>
              </a:rPr>
              <a:t>parkinson's</a:t>
            </a:r>
            <a:r>
              <a:rPr lang="en-IN" sz="2000" dirty="0">
                <a:latin typeface="Times New Roman" panose="02020603050405020304" pitchFamily="18" charset="0"/>
                <a:cs typeface="Times New Roman" panose="02020603050405020304" pitchFamily="18" charset="0"/>
              </a:rPr>
              <a:t> disease using deep belief network,” in 2016 IEEE Congress on evolutionary computation (CEC) (Vancouver, BC, Canada: IEEE; ), 1324–1330. 10.1109/CEC.2016.7743941.</a:t>
            </a:r>
          </a:p>
          <a:p>
            <a:pPr algn="just">
              <a:lnSpc>
                <a:spcPct val="150000"/>
              </a:lnSpc>
            </a:pPr>
            <a:r>
              <a:rPr lang="en-IN" sz="2000" dirty="0">
                <a:latin typeface="Times New Roman" panose="02020603050405020304" pitchFamily="18" charset="0"/>
                <a:cs typeface="Times New Roman" panose="02020603050405020304" pitchFamily="18" charset="0"/>
              </a:rPr>
              <a:t>3] </a:t>
            </a:r>
            <a:r>
              <a:rPr lang="en-IN" sz="2000" dirty="0" err="1">
                <a:latin typeface="Times New Roman" panose="02020603050405020304" pitchFamily="18" charset="0"/>
                <a:cs typeface="Times New Roman" panose="02020603050405020304" pitchFamily="18" charset="0"/>
              </a:rPr>
              <a:t>Bilgen</a:t>
            </a:r>
            <a:r>
              <a:rPr lang="en-IN" sz="2000" dirty="0">
                <a:latin typeface="Times New Roman" panose="02020603050405020304" pitchFamily="18" charset="0"/>
                <a:cs typeface="Times New Roman" panose="02020603050405020304" pitchFamily="18" charset="0"/>
              </a:rPr>
              <a:t> I., </a:t>
            </a:r>
            <a:r>
              <a:rPr lang="en-IN" sz="2000" dirty="0" err="1">
                <a:latin typeface="Times New Roman" panose="02020603050405020304" pitchFamily="18" charset="0"/>
                <a:cs typeface="Times New Roman" panose="02020603050405020304" pitchFamily="18" charset="0"/>
              </a:rPr>
              <a:t>Guvercin</a:t>
            </a:r>
            <a:r>
              <a:rPr lang="en-IN" sz="2000" dirty="0">
                <a:latin typeface="Times New Roman" panose="02020603050405020304" pitchFamily="18" charset="0"/>
                <a:cs typeface="Times New Roman" panose="02020603050405020304" pitchFamily="18" charset="0"/>
              </a:rPr>
              <a:t> G., Rekik I. (2020). Machine learning methods for brain network classification: application to autism diagnosis using cortical morphological networks. J. </a:t>
            </a:r>
            <a:r>
              <a:rPr lang="en-IN" sz="2000" dirty="0" err="1">
                <a:latin typeface="Times New Roman" panose="02020603050405020304" pitchFamily="18" charset="0"/>
                <a:cs typeface="Times New Roman" panose="02020603050405020304" pitchFamily="18" charset="0"/>
              </a:rPr>
              <a:t>Neurosci</a:t>
            </a:r>
            <a:r>
              <a:rPr lang="en-IN" sz="2000" dirty="0">
                <a:latin typeface="Times New Roman" panose="02020603050405020304" pitchFamily="18" charset="0"/>
                <a:cs typeface="Times New Roman" panose="02020603050405020304" pitchFamily="18" charset="0"/>
              </a:rPr>
              <a:t>. Meth. 343, 108799. 10.1016/j.jneumeth.2020.108799 [PubMed] </a:t>
            </a:r>
          </a:p>
          <a:p>
            <a:pPr algn="just">
              <a:lnSpc>
                <a:spcPct val="150000"/>
              </a:lnSpc>
            </a:pPr>
            <a:r>
              <a:rPr lang="en-IN" sz="2000" dirty="0">
                <a:latin typeface="Times New Roman" panose="02020603050405020304" pitchFamily="18" charset="0"/>
                <a:cs typeface="Times New Roman" panose="02020603050405020304" pitchFamily="18" charset="0"/>
              </a:rPr>
              <a:t>4] </a:t>
            </a:r>
            <a:r>
              <a:rPr lang="en-IN" sz="2000" dirty="0" err="1">
                <a:latin typeface="Times New Roman" panose="02020603050405020304" pitchFamily="18" charset="0"/>
                <a:cs typeface="Times New Roman" panose="02020603050405020304" pitchFamily="18" charset="0"/>
              </a:rPr>
              <a:t>Charbuty</a:t>
            </a:r>
            <a:r>
              <a:rPr lang="en-IN" sz="2000" dirty="0">
                <a:latin typeface="Times New Roman" panose="02020603050405020304" pitchFamily="18" charset="0"/>
                <a:cs typeface="Times New Roman" panose="02020603050405020304" pitchFamily="18" charset="0"/>
              </a:rPr>
              <a:t> B., Abdulazeez A. (2021). Classification based on decision tree algorithm for machine learning. J. Appl. Sci. Technol. Trends. 2, 20–28. 10.38094/jastt20165 </a:t>
            </a:r>
          </a:p>
          <a:p>
            <a:pPr algn="just">
              <a:lnSpc>
                <a:spcPct val="150000"/>
              </a:lnSpc>
            </a:pPr>
            <a:r>
              <a:rPr lang="en-IN" sz="2000" dirty="0">
                <a:latin typeface="Times New Roman" panose="02020603050405020304" pitchFamily="18" charset="0"/>
                <a:cs typeface="Times New Roman" panose="02020603050405020304" pitchFamily="18" charset="0"/>
              </a:rPr>
              <a:t>5] Das R. (2010). A comparison of multiple classification methods for diagnosis of </a:t>
            </a:r>
            <a:r>
              <a:rPr lang="en-IN" sz="2000" dirty="0" err="1">
                <a:latin typeface="Times New Roman" panose="02020603050405020304" pitchFamily="18" charset="0"/>
                <a:cs typeface="Times New Roman" panose="02020603050405020304" pitchFamily="18" charset="0"/>
              </a:rPr>
              <a:t>parkinson</a:t>
            </a:r>
            <a:r>
              <a:rPr lang="en-IN" sz="2000" dirty="0">
                <a:latin typeface="Times New Roman" panose="02020603050405020304" pitchFamily="18" charset="0"/>
                <a:cs typeface="Times New Roman" panose="02020603050405020304" pitchFamily="18" charset="0"/>
              </a:rPr>
              <a:t> disease. Expert Syst. Appl. 37, 1568–1572. 10.1016/j.eswa.2009.06.040 </a:t>
            </a:r>
          </a:p>
        </p:txBody>
      </p:sp>
    </p:spTree>
    <p:extLst>
      <p:ext uri="{BB962C8B-B14F-4D97-AF65-F5344CB8AC3E}">
        <p14:creationId xmlns:p14="http://schemas.microsoft.com/office/powerpoint/2010/main" val="4150379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840AF4-0081-9B6F-DA99-019F48B4D9F3}"/>
              </a:ext>
            </a:extLst>
          </p:cNvPr>
          <p:cNvSpPr txBox="1"/>
          <p:nvPr/>
        </p:nvSpPr>
        <p:spPr>
          <a:xfrm>
            <a:off x="243282" y="409679"/>
            <a:ext cx="11417416" cy="6038641"/>
          </a:xfrm>
          <a:prstGeom prst="rect">
            <a:avLst/>
          </a:prstGeom>
          <a:noFill/>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6] Desai R. (2019). Top 10 Python Libraries for Data Science. Available online at: https://towardsdatascience.com/top-10-python-libraries-for-data-science-cd82294ec266 (accessed July 3, 2022).</a:t>
            </a:r>
          </a:p>
          <a:p>
            <a:pPr algn="just">
              <a:lnSpc>
                <a:spcPct val="150000"/>
              </a:lnSpc>
            </a:pPr>
            <a:r>
              <a:rPr lang="en-IN" sz="2000" dirty="0">
                <a:latin typeface="Times New Roman" panose="02020603050405020304" pitchFamily="18" charset="0"/>
                <a:cs typeface="Times New Roman" panose="02020603050405020304" pitchFamily="18" charset="0"/>
              </a:rPr>
              <a:t>7] </a:t>
            </a:r>
            <a:r>
              <a:rPr lang="en-IN" sz="2000" dirty="0" err="1">
                <a:latin typeface="Times New Roman" panose="02020603050405020304" pitchFamily="18" charset="0"/>
                <a:cs typeface="Times New Roman" panose="02020603050405020304" pitchFamily="18" charset="0"/>
              </a:rPr>
              <a:t>Fothergill</a:t>
            </a:r>
            <a:r>
              <a:rPr lang="en-IN" sz="2000" dirty="0">
                <a:latin typeface="Times New Roman" panose="02020603050405020304" pitchFamily="18" charset="0"/>
                <a:cs typeface="Times New Roman" panose="02020603050405020304" pitchFamily="18" charset="0"/>
              </a:rPr>
              <a:t>-Misbah N., </a:t>
            </a:r>
            <a:r>
              <a:rPr lang="en-IN" sz="2000" dirty="0" err="1">
                <a:latin typeface="Times New Roman" panose="02020603050405020304" pitchFamily="18" charset="0"/>
                <a:cs typeface="Times New Roman" panose="02020603050405020304" pitchFamily="18" charset="0"/>
              </a:rPr>
              <a:t>Maroo</a:t>
            </a:r>
            <a:r>
              <a:rPr lang="en-IN" sz="2000" dirty="0">
                <a:latin typeface="Times New Roman" panose="02020603050405020304" pitchFamily="18" charset="0"/>
                <a:cs typeface="Times New Roman" panose="02020603050405020304" pitchFamily="18" charset="0"/>
              </a:rPr>
              <a:t> H., Hooker J., </a:t>
            </a:r>
            <a:r>
              <a:rPr lang="en-IN" sz="2000" dirty="0" err="1">
                <a:latin typeface="Times New Roman" panose="02020603050405020304" pitchFamily="18" charset="0"/>
                <a:cs typeface="Times New Roman" panose="02020603050405020304" pitchFamily="18" charset="0"/>
              </a:rPr>
              <a:t>Kwasa</a:t>
            </a:r>
            <a:r>
              <a:rPr lang="en-IN" sz="2000" dirty="0">
                <a:latin typeface="Times New Roman" panose="02020603050405020304" pitchFamily="18" charset="0"/>
                <a:cs typeface="Times New Roman" panose="02020603050405020304" pitchFamily="18" charset="0"/>
              </a:rPr>
              <a:t> J., Walker R. (2020). Parkinson's disease medication in </a:t>
            </a:r>
            <a:r>
              <a:rPr lang="en-IN" sz="2000" dirty="0" err="1">
                <a:latin typeface="Times New Roman" panose="02020603050405020304" pitchFamily="18" charset="0"/>
                <a:cs typeface="Times New Roman" panose="02020603050405020304" pitchFamily="18" charset="0"/>
              </a:rPr>
              <a:t>kenya</a:t>
            </a:r>
            <a:r>
              <a:rPr lang="en-IN" sz="2000" dirty="0">
                <a:latin typeface="Times New Roman" panose="02020603050405020304" pitchFamily="18" charset="0"/>
                <a:cs typeface="Times New Roman" panose="02020603050405020304" pitchFamily="18" charset="0"/>
              </a:rPr>
              <a:t>–situation analysis. Pharmaceutica l J. Kenya. 24, 38–41. </a:t>
            </a:r>
          </a:p>
          <a:p>
            <a:pPr algn="just">
              <a:lnSpc>
                <a:spcPct val="150000"/>
              </a:lnSpc>
            </a:pPr>
            <a:r>
              <a:rPr lang="en-IN" sz="2000" dirty="0">
                <a:latin typeface="Times New Roman" panose="02020603050405020304" pitchFamily="18" charset="0"/>
                <a:cs typeface="Times New Roman" panose="02020603050405020304" pitchFamily="18" charset="0"/>
              </a:rPr>
              <a:t>8] Gil D., Manuel D. J. (2009). Diagnosing </a:t>
            </a:r>
            <a:r>
              <a:rPr lang="en-IN" sz="2000" dirty="0" err="1">
                <a:latin typeface="Times New Roman" panose="02020603050405020304" pitchFamily="18" charset="0"/>
                <a:cs typeface="Times New Roman" panose="02020603050405020304" pitchFamily="18" charset="0"/>
              </a:rPr>
              <a:t>parkinson</a:t>
            </a:r>
            <a:r>
              <a:rPr lang="en-IN" sz="2000" dirty="0">
                <a:latin typeface="Times New Roman" panose="02020603050405020304" pitchFamily="18" charset="0"/>
                <a:cs typeface="Times New Roman" panose="02020603050405020304" pitchFamily="18" charset="0"/>
              </a:rPr>
              <a:t> by using artificial neural networks and support vector machines. Glob. J. </a:t>
            </a:r>
            <a:r>
              <a:rPr lang="en-IN" sz="2000" dirty="0" err="1">
                <a:latin typeface="Times New Roman" panose="02020603050405020304" pitchFamily="18" charset="0"/>
                <a:cs typeface="Times New Roman" panose="02020603050405020304" pitchFamily="18" charset="0"/>
              </a:rPr>
              <a:t>Comput</a:t>
            </a:r>
            <a:r>
              <a:rPr lang="en-IN" sz="2000" dirty="0">
                <a:latin typeface="Times New Roman" panose="02020603050405020304" pitchFamily="18" charset="0"/>
                <a:cs typeface="Times New Roman" panose="02020603050405020304" pitchFamily="18" charset="0"/>
              </a:rPr>
              <a:t>. Sci. Technol. 9, 63–71. </a:t>
            </a:r>
          </a:p>
          <a:p>
            <a:pPr algn="just">
              <a:lnSpc>
                <a:spcPct val="150000"/>
              </a:lnSpc>
            </a:pPr>
            <a:r>
              <a:rPr lang="en-IN" sz="2000" dirty="0">
                <a:latin typeface="Times New Roman" panose="02020603050405020304" pitchFamily="18" charset="0"/>
                <a:cs typeface="Times New Roman" panose="02020603050405020304" pitchFamily="18" charset="0"/>
              </a:rPr>
              <a:t>9] </a:t>
            </a:r>
            <a:r>
              <a:rPr lang="en-IN" sz="2000" dirty="0" err="1">
                <a:latin typeface="Times New Roman" panose="02020603050405020304" pitchFamily="18" charset="0"/>
                <a:cs typeface="Times New Roman" panose="02020603050405020304" pitchFamily="18" charset="0"/>
              </a:rPr>
              <a:t>Harel</a:t>
            </a:r>
            <a:r>
              <a:rPr lang="en-IN" sz="2000" dirty="0">
                <a:latin typeface="Times New Roman" panose="02020603050405020304" pitchFamily="18" charset="0"/>
                <a:cs typeface="Times New Roman" panose="02020603050405020304" pitchFamily="18" charset="0"/>
              </a:rPr>
              <a:t> B., Cannizzaro M., Snyder P. J. (2004). Variability in fundamental frequency during speech in prodromal and incipient </a:t>
            </a:r>
            <a:r>
              <a:rPr lang="en-IN" sz="2000" dirty="0" err="1">
                <a:latin typeface="Times New Roman" panose="02020603050405020304" pitchFamily="18" charset="0"/>
                <a:cs typeface="Times New Roman" panose="02020603050405020304" pitchFamily="18" charset="0"/>
              </a:rPr>
              <a:t>parkinson's</a:t>
            </a:r>
            <a:r>
              <a:rPr lang="en-IN" sz="2000" dirty="0">
                <a:latin typeface="Times New Roman" panose="02020603050405020304" pitchFamily="18" charset="0"/>
                <a:cs typeface="Times New Roman" panose="02020603050405020304" pitchFamily="18" charset="0"/>
              </a:rPr>
              <a:t> disease: a longitudinal case study. Brain Cognit. 56, 24–29. 10.1016/j.bandc.2004.05.002 </a:t>
            </a:r>
          </a:p>
          <a:p>
            <a:pPr algn="just">
              <a:lnSpc>
                <a:spcPct val="150000"/>
              </a:lnSpc>
            </a:pPr>
            <a:r>
              <a:rPr lang="en-IN" sz="2000" dirty="0">
                <a:latin typeface="Times New Roman" panose="02020603050405020304" pitchFamily="18" charset="0"/>
                <a:cs typeface="Times New Roman" panose="02020603050405020304" pitchFamily="18" charset="0"/>
              </a:rPr>
              <a:t>10] Hossain E., Hossain M. F., </a:t>
            </a:r>
            <a:r>
              <a:rPr lang="en-IN" sz="2000" dirty="0" err="1">
                <a:latin typeface="Times New Roman" panose="02020603050405020304" pitchFamily="18" charset="0"/>
                <a:cs typeface="Times New Roman" panose="02020603050405020304" pitchFamily="18" charset="0"/>
              </a:rPr>
              <a:t>Rahaman</a:t>
            </a:r>
            <a:r>
              <a:rPr lang="en-IN" sz="2000" dirty="0">
                <a:latin typeface="Times New Roman" panose="02020603050405020304" pitchFamily="18" charset="0"/>
                <a:cs typeface="Times New Roman" panose="02020603050405020304" pitchFamily="18" charset="0"/>
              </a:rPr>
              <a:t> M. A. (2019). “A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and texture based approach for the detection and classification of plant leaf disease using </a:t>
            </a:r>
            <a:r>
              <a:rPr lang="en-IN" sz="2000" dirty="0" err="1">
                <a:latin typeface="Times New Roman" panose="02020603050405020304" pitchFamily="18" charset="0"/>
                <a:cs typeface="Times New Roman" panose="02020603050405020304" pitchFamily="18" charset="0"/>
              </a:rPr>
              <a:t>knn</a:t>
            </a:r>
            <a:r>
              <a:rPr lang="en-IN" sz="2000" dirty="0">
                <a:latin typeface="Times New Roman" panose="02020603050405020304" pitchFamily="18" charset="0"/>
                <a:cs typeface="Times New Roman" panose="02020603050405020304" pitchFamily="18" charset="0"/>
              </a:rPr>
              <a:t> classifier,” in 2019 International Conference on Electrical, Computer and Communication Engineering (ECCE) (Cox's Bazar: IEEE; ).</a:t>
            </a:r>
          </a:p>
        </p:txBody>
      </p:sp>
    </p:spTree>
    <p:extLst>
      <p:ext uri="{BB962C8B-B14F-4D97-AF65-F5344CB8AC3E}">
        <p14:creationId xmlns:p14="http://schemas.microsoft.com/office/powerpoint/2010/main" val="50698854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279</TotalTime>
  <Words>3196</Words>
  <Application>Microsoft Office PowerPoint</Application>
  <PresentationFormat>Widescreen</PresentationFormat>
  <Paragraphs>138</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BLOCK DIAGRAM</vt:lpstr>
      <vt:lpstr>PowerPoint Presentation</vt:lpstr>
      <vt:lpstr>PowerPoint Presentation</vt:lpstr>
      <vt:lpstr>PowerPoint Presentation</vt:lpstr>
      <vt:lpstr>PowerPoint Presentation</vt:lpstr>
      <vt:lpstr>ARCHITECTURE</vt:lpstr>
      <vt:lpstr>PowerPoint Presentation</vt:lpstr>
      <vt:lpstr>PowerPoint Presentation</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Adithya M</dc:creator>
  <cp:lastModifiedBy>Adithya M</cp:lastModifiedBy>
  <cp:revision>33</cp:revision>
  <dcterms:created xsi:type="dcterms:W3CDTF">2023-10-18T09:06:08Z</dcterms:created>
  <dcterms:modified xsi:type="dcterms:W3CDTF">2024-08-19T06:12:47Z</dcterms:modified>
</cp:coreProperties>
</file>